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556248"/>
            <a:ext cx="11064240" cy="27432"/>
          </a:xfrm>
          <a:prstGeom prst="rect">
            <a:avLst/>
          </a:prstGeom>
          <a:solidFill>
            <a:srgbClr val="D7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5120640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F5ED7"/>
                </a:solidFill>
                <a:latin typeface="Arial"/>
              </a:rPr>
              <a:t>Primera evaluación parcial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7863840" cy="8229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B2A5B"/>
                </a:solidFill>
                <a:latin typeface="Arial"/>
              </a:rPr>
              <a:t>Dashboard de ocupación hospitalaria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8046720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1F2D3D"/>
                </a:solidFill>
                <a:latin typeface="Arial"/>
              </a:rPr>
              <a:t>Defensa de arquitectura propuesta y cambio práctico</a:t>
            </a:r>
          </a:p>
        </p:txBody>
      </p:sp>
      <p:sp>
        <p:nvSpPr>
          <p:cNvPr id="8" name="Oval 7"/>
          <p:cNvSpPr/>
          <p:nvPr/>
        </p:nvSpPr>
        <p:spPr>
          <a:xfrm>
            <a:off x="8503920" y="822960"/>
            <a:ext cx="2468880" cy="2468880"/>
          </a:xfrm>
          <a:prstGeom prst="ellipse">
            <a:avLst/>
          </a:prstGeom>
          <a:solidFill>
            <a:srgbClr val="F5F7FB"/>
          </a:solidFill>
          <a:ln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3749039"/>
            <a:ext cx="731520" cy="320040"/>
          </a:xfrm>
          <a:prstGeom prst="roundRect">
            <a:avLst/>
          </a:prstGeom>
          <a:solidFill>
            <a:srgbClr val="0F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UML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4251959"/>
            <a:ext cx="731520" cy="320040"/>
          </a:xfrm>
          <a:prstGeom prst="roundRect">
            <a:avLst/>
          </a:prstGeom>
          <a:solidFill>
            <a:srgbClr val="18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SOLID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3749039"/>
            <a:ext cx="731520" cy="320040"/>
          </a:xfrm>
          <a:prstGeom prst="round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78440" y="4251959"/>
            <a:ext cx="731520" cy="320040"/>
          </a:xfrm>
          <a:prstGeom prst="round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234440"/>
            <a:ext cx="411480" cy="274320"/>
          </a:xfrm>
          <a:prstGeom prst="roundRect">
            <a:avLst/>
          </a:prstGeom>
          <a:solidFill>
            <a:srgbClr val="18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60" y="1920240"/>
            <a:ext cx="411480" cy="274320"/>
          </a:xfrm>
          <a:prstGeom prst="roundRect">
            <a:avLst/>
          </a:prstGeom>
          <a:solidFill>
            <a:srgbClr val="0F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18320" y="1234440"/>
            <a:ext cx="411480" cy="274320"/>
          </a:xfrm>
          <a:prstGeom prst="roundRect">
            <a:avLst/>
          </a:prstGeom>
          <a:solidFill>
            <a:srgbClr val="CC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18320" y="1920240"/>
            <a:ext cx="411480" cy="274320"/>
          </a:xfrm>
          <a:prstGeom prst="roundRect">
            <a:avLst/>
          </a:prstGeom>
          <a:solidFill>
            <a:srgbClr val="0F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12680" y="1234440"/>
            <a:ext cx="411480" cy="274320"/>
          </a:xfrm>
          <a:prstGeom prst="roundRect">
            <a:avLst/>
          </a:prstGeom>
          <a:solidFill>
            <a:srgbClr val="18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12680" y="1920240"/>
            <a:ext cx="411480" cy="274320"/>
          </a:xfrm>
          <a:prstGeom prst="round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731520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66717F"/>
                </a:solidFill>
                <a:latin typeface="Arial"/>
              </a:rPr>
              <a:t>Análisis de Sistemas II · Sistema Hospitalario Integrado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99048"/>
            <a:ext cx="731520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66717F"/>
                </a:solidFill>
                <a:latin typeface="Arial"/>
              </a:rPr>
              <a:t>Javier Alexander Fajardo López · Carné 1890-23-2681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556248"/>
            <a:ext cx="11064240" cy="27432"/>
          </a:xfrm>
          <a:prstGeom prst="rect">
            <a:avLst/>
          </a:prstGeom>
          <a:solidFill>
            <a:srgbClr val="D7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94360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0B2A5B"/>
                </a:solidFill>
                <a:latin typeface="Arial"/>
              </a:rPr>
              <a:t>1. Problema y 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69848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Arial"/>
              </a:rPr>
              <a:t>Consolidar la ocupación por sala y estado de cama sin duplicar reglas ni mezclar responsabilidades.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834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B2A5B"/>
                </a:solidFill>
                <a:latin typeface="Arial"/>
              </a:rPr>
              <a:t>Entrada
room/status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2395728"/>
            <a:ext cx="548641" cy="0"/>
          </a:xfrm>
          <a:prstGeom prst="line">
            <a:avLst/>
          </a:prstGeom>
          <a:ln w="31750">
            <a:solidFill>
              <a:srgbClr val="0F5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0" y="1828800"/>
            <a:ext cx="2834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B2A5B"/>
                </a:solidFill>
                <a:latin typeface="Arial"/>
              </a:rPr>
              <a:t>Dominio
OCCUPIED
AVAILABLE
MAINTENANCE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06640" y="2395728"/>
            <a:ext cx="548639" cy="0"/>
          </a:xfrm>
          <a:prstGeom prst="line">
            <a:avLst/>
          </a:prstGeom>
          <a:ln w="31750">
            <a:solidFill>
              <a:srgbClr val="0F5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38160" y="1828800"/>
            <a:ext cx="2834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B2A5B"/>
                </a:solidFill>
                <a:latin typeface="Arial"/>
              </a:rPr>
              <a:t>Salida
total, occupied, available, maintenance, % y rooms[]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2834640" cy="411480"/>
          </a:xfrm>
          <a:prstGeom prst="roundRect">
            <a:avLst/>
          </a:prstGeom>
          <a:solidFill>
            <a:srgbClr val="0B2A5B"/>
          </a:solidFill>
          <a:ln w="12700">
            <a:solidFill>
              <a:srgbClr val="0B2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Criterio de defensa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La API conserva las reglas existentes del Micro-HIS.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El cliente no calcula porcentajes; solo presenta resultados.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La capa de dominio se mantiene como fuente de verdad.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03320"/>
            <a:ext cx="2834640" cy="411480"/>
          </a:xfrm>
          <a:prstGeom prst="roundRect">
            <a:avLst/>
          </a:prstGeom>
          <a:solidFill>
            <a:srgbClr val="0B2A5B"/>
          </a:solidFill>
          <a:ln w="12700">
            <a:solidFill>
              <a:srgbClr val="0B2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Riesgo controlado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Evitar resultados distintos entre HTML y API.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No exponer errores internos de persistencia.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No separar microservicio sin justificación medible.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556248"/>
            <a:ext cx="11064240" cy="27432"/>
          </a:xfrm>
          <a:prstGeom prst="rect">
            <a:avLst/>
          </a:prstGeom>
          <a:solidFill>
            <a:srgbClr val="D7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0B2A5B"/>
                </a:solidFill>
                <a:latin typeface="Arial"/>
              </a:rPr>
              <a:t>2. Mapa trazable de la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87552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1F2D3D"/>
                </a:solidFill>
                <a:latin typeface="Arial"/>
              </a:rPr>
              <a:t>Cada decisión se conecta con evidencia generada en semanas previas.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417320" cy="347472"/>
          </a:xfrm>
          <a:prstGeom prst="roundRect">
            <a:avLst/>
          </a:prstGeom>
          <a:solidFill>
            <a:srgbClr val="0F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Semana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1783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UML y trazabilidad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67128" y="2724912"/>
            <a:ext cx="438912" cy="0"/>
          </a:xfrm>
          <a:prstGeom prst="line">
            <a:avLst/>
          </a:prstGeom>
          <a:ln w="25400">
            <a:solidFill>
              <a:srgbClr val="667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1828800"/>
            <a:ext cx="1417320" cy="347472"/>
          </a:xfrm>
          <a:prstGeom prst="roundRect">
            <a:avLst/>
          </a:prstGeom>
          <a:solidFill>
            <a:srgbClr val="18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Semana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2331720"/>
            <a:ext cx="1783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RF/RNF + ISP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53128" y="2724912"/>
            <a:ext cx="438912" cy="0"/>
          </a:xfrm>
          <a:prstGeom prst="line">
            <a:avLst/>
          </a:prstGeom>
          <a:ln w="25400">
            <a:solidFill>
              <a:srgbClr val="667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1828800"/>
            <a:ext cx="1417320" cy="347472"/>
          </a:xfrm>
          <a:prstGeom prst="round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Semana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331720"/>
            <a:ext cx="1783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Micro-HIS en capas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39128" y="2724912"/>
            <a:ext cx="438912" cy="0"/>
          </a:xfrm>
          <a:prstGeom prst="line">
            <a:avLst/>
          </a:prstGeom>
          <a:ln w="25400">
            <a:solidFill>
              <a:srgbClr val="667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52360" y="1828800"/>
            <a:ext cx="1417320" cy="347472"/>
          </a:xfrm>
          <a:prstGeom prst="round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Semana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331720"/>
            <a:ext cx="1783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Repository + InMemory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25128" y="2724912"/>
            <a:ext cx="438912" cy="0"/>
          </a:xfrm>
          <a:prstGeom prst="line">
            <a:avLst/>
          </a:prstGeom>
          <a:ln w="25400">
            <a:solidFill>
              <a:srgbClr val="667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38360" y="1828800"/>
            <a:ext cx="1417320" cy="347472"/>
          </a:xfrm>
          <a:prstGeom prst="roundRect">
            <a:avLst/>
          </a:prstGeom>
          <a:solidFill>
            <a:srgbClr val="CC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Semana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2331720"/>
            <a:ext cx="1783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1F2D3D"/>
                </a:solidFill>
                <a:latin typeface="Arial"/>
              </a:rPr>
              <a:t>Contrato API 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86200"/>
            <a:ext cx="2057400" cy="548640"/>
          </a:xfrm>
          <a:prstGeom prst="roundRect">
            <a:avLst/>
          </a:prstGeom>
          <a:solidFill>
            <a:srgbClr val="0B2A5B"/>
          </a:solidFill>
          <a:ln w="12700">
            <a:solidFill>
              <a:srgbClr val="0B2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Evidencia acumulada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886200"/>
            <a:ext cx="1143000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1F2D3D"/>
                </a:solidFill>
                <a:latin typeface="Arial"/>
              </a:rPr>
              <a:t>diagramas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886200"/>
            <a:ext cx="1143000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1F2D3D"/>
                </a:solidFill>
                <a:latin typeface="Arial"/>
              </a:rPr>
              <a:t>criterios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3886200"/>
            <a:ext cx="1143000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1F2D3D"/>
                </a:solidFill>
                <a:latin typeface="Arial"/>
              </a:rPr>
              <a:t>código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886200"/>
            <a:ext cx="1143000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1F2D3D"/>
                </a:solidFill>
                <a:latin typeface="Arial"/>
              </a:rPr>
              <a:t>pruebas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3886200"/>
            <a:ext cx="1143000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1F2D3D"/>
                </a:solidFill>
                <a:latin typeface="Arial"/>
              </a:rPr>
              <a:t>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983480"/>
            <a:ext cx="10789920" cy="64008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0F5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0B2A5B"/>
                </a:solidFill>
                <a:latin typeface="Arial"/>
              </a:rPr>
              <a:t>Defensa parcial: conectar actores, UML, RF/RNF, SOLID, capas, Repository y contrato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556248"/>
            <a:ext cx="11064240" cy="27432"/>
          </a:xfrm>
          <a:prstGeom prst="rect">
            <a:avLst/>
          </a:prstGeom>
          <a:solidFill>
            <a:srgbClr val="D7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685800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0B2A5B"/>
                </a:solidFill>
                <a:latin typeface="Arial"/>
              </a:rPr>
              <a:t>3. Arquitectura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87552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1F2D3D"/>
                </a:solidFill>
                <a:latin typeface="Arial"/>
              </a:rPr>
              <a:t>Separar cliente y servidor, manteniendo el dominio como fuente de reglas.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737360" cy="9144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0F5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0B2A5B"/>
                </a:solidFill>
                <a:latin typeface="Arial"/>
              </a:rPr>
              <a:t>Cliente
Dashboard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08760"/>
            <a:ext cx="1874519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0B2A5B"/>
                </a:solidFill>
                <a:latin typeface="Arial"/>
              </a:rPr>
              <a:t>API REST
GET /api/v1/occupancy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514600"/>
            <a:ext cx="1874519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1F2D3D"/>
                </a:solidFill>
                <a:latin typeface="Arial"/>
              </a:rPr>
              <a:t>Presentation
OccupancyController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01168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1F2D3D"/>
                </a:solidFill>
                <a:latin typeface="Arial"/>
              </a:rPr>
              <a:t>Application
OccupancyService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60020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1F2D3D"/>
                </a:solidFill>
                <a:latin typeface="Arial"/>
              </a:rPr>
              <a:t>Domain
BedStatus
OccupancyCalculator
BedRepository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337560"/>
            <a:ext cx="2011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1F2D3D"/>
                </a:solidFill>
                <a:latin typeface="Arial"/>
              </a:rPr>
              <a:t>Persistence
PdoBedRepository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3337560"/>
            <a:ext cx="1371600" cy="7315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1F2D3D"/>
                </a:solidFill>
                <a:latin typeface="Arial"/>
              </a:rPr>
              <a:t>Base de datos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423160" y="1920240"/>
            <a:ext cx="457200" cy="457200"/>
          </a:xfrm>
          <a:prstGeom prst="line">
            <a:avLst/>
          </a:prstGeom>
          <a:ln w="31750">
            <a:solidFill>
              <a:srgbClr val="0F5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1920240"/>
            <a:ext cx="548640" cy="411480"/>
          </a:xfrm>
          <a:prstGeom prst="line">
            <a:avLst/>
          </a:prstGeom>
          <a:ln w="31750">
            <a:solidFill>
              <a:srgbClr val="0F5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60920" y="2240280"/>
            <a:ext cx="320040" cy="91440"/>
          </a:xfrm>
          <a:prstGeom prst="line">
            <a:avLst/>
          </a:prstGeom>
          <a:ln w="31750">
            <a:solidFill>
              <a:srgbClr val="0F5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2880360"/>
            <a:ext cx="0" cy="411480"/>
          </a:xfrm>
          <a:prstGeom prst="line">
            <a:avLst/>
          </a:prstGeom>
          <a:ln w="31750">
            <a:solidFill>
              <a:srgbClr val="0F5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84080" y="3703320"/>
            <a:ext cx="411480" cy="0"/>
          </a:xfrm>
          <a:prstGeom prst="line">
            <a:avLst/>
          </a:prstGeom>
          <a:ln w="31750">
            <a:solidFill>
              <a:srgbClr val="0F5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31720" y="1261872"/>
            <a:ext cx="1371600" cy="320040"/>
          </a:xfrm>
          <a:prstGeom prst="roundRect">
            <a:avLst/>
          </a:prstGeom>
          <a:solidFill>
            <a:srgbClr val="0F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HTTP /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4892040"/>
            <a:ext cx="2926080" cy="347472"/>
          </a:xfrm>
          <a:prstGeom prst="roundRect">
            <a:avLst/>
          </a:prstGeom>
          <a:solidFill>
            <a:srgbClr val="18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Reglas no se duplican en cliente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892040"/>
            <a:ext cx="2103120" cy="347472"/>
          </a:xfrm>
          <a:prstGeom prst="round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Errores: 200 · 422 · 500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556248"/>
            <a:ext cx="11064240" cy="27432"/>
          </a:xfrm>
          <a:prstGeom prst="rect">
            <a:avLst/>
          </a:prstGeom>
          <a:solidFill>
            <a:srgbClr val="D7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77240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0B2A5B"/>
                </a:solidFill>
                <a:latin typeface="Arial"/>
              </a:rPr>
              <a:t>4. Matriz de decisión y evidencia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926080" cy="475488"/>
          </a:xfrm>
          <a:prstGeom prst="roundRect">
            <a:avLst/>
          </a:prstGeom>
          <a:solidFill>
            <a:srgbClr val="0B2A5B"/>
          </a:solidFill>
          <a:ln w="12700">
            <a:solidFill>
              <a:srgbClr val="0B2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Decisión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34440"/>
            <a:ext cx="4297680" cy="475488"/>
          </a:xfrm>
          <a:prstGeom prst="roundRect">
            <a:avLst/>
          </a:prstGeom>
          <a:solidFill>
            <a:srgbClr val="0B2A5B"/>
          </a:solidFill>
          <a:ln w="12700">
            <a:solidFill>
              <a:srgbClr val="0B2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Justificación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291840" cy="475488"/>
          </a:xfrm>
          <a:prstGeom prst="roundRect">
            <a:avLst/>
          </a:prstGeom>
          <a:solidFill>
            <a:srgbClr val="0B2A5B"/>
          </a:solidFill>
          <a:ln w="12700">
            <a:solidFill>
              <a:srgbClr val="0B2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Evidencia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2926080" cy="749808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Exponer API 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4297680" cy="749808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El cliente consume datos JSON sin recalcular reglas.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737360"/>
            <a:ext cx="3291840" cy="749808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CONTRATO_API.md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78608"/>
            <a:ext cx="2926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Mantener dominio central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578608"/>
            <a:ext cx="42976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BedStatus y OccupancyCalculator siguen controlando reglas.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578608"/>
            <a:ext cx="3291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Código Micro-HIS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19856"/>
            <a:ext cx="2926080" cy="749808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Repository como frontera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419856"/>
            <a:ext cx="4297680" cy="749808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Service depende de BedRepository, no de PDO.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419856"/>
            <a:ext cx="3291840" cy="749808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Semana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61104"/>
            <a:ext cx="2926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No separar microservicio todavía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4261104"/>
            <a:ext cx="42976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No hay carga, despliegue o escala medible que lo justifique.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261104"/>
            <a:ext cx="3291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Análisis semana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789920" cy="50292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0F5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B2A5B"/>
                </a:solidFill>
                <a:latin typeface="Arial"/>
              </a:rPr>
              <a:t>La defensa se centra en explicar por qué el diseño evoluciona sin romper reglas previas.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556248"/>
            <a:ext cx="11064240" cy="27432"/>
          </a:xfrm>
          <a:prstGeom prst="rect">
            <a:avLst/>
          </a:prstGeom>
          <a:solidFill>
            <a:srgbClr val="D7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77240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0B2A5B"/>
                </a:solidFill>
                <a:latin typeface="Arial"/>
              </a:rPr>
              <a:t>5. Cambio práctico defendido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33272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1F2D3D"/>
                </a:solidFill>
                <a:latin typeface="Arial"/>
              </a:rPr>
              <a:t>Del HTML generado en servidor a una API REST consumida por un cliente web.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B2A5B"/>
                </a:solidFill>
                <a:latin typeface="Arial"/>
              </a:rPr>
              <a:t>Antes
public/index.php genera 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874519"/>
            <a:ext cx="2743200" cy="100584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0F5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B2A5B"/>
                </a:solidFill>
                <a:latin typeface="Arial"/>
              </a:rPr>
              <a:t>Cambio
GET /api/v1/occupancy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874519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B2A5B"/>
                </a:solidFill>
                <a:latin typeface="Arial"/>
              </a:rPr>
              <a:t>Después
Cliente presenta JSON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2377440"/>
            <a:ext cx="960120" cy="0"/>
          </a:xfrm>
          <a:prstGeom prst="line">
            <a:avLst/>
          </a:prstGeom>
          <a:ln w="31750">
            <a:solidFill>
              <a:srgbClr val="0F5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52360" y="2377440"/>
            <a:ext cx="960120" cy="0"/>
          </a:xfrm>
          <a:prstGeom prst="line">
            <a:avLst/>
          </a:prstGeom>
          <a:ln w="31750">
            <a:solidFill>
              <a:srgbClr val="0F5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576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El servicio sigue recibiendo room y status.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La validación de estados no cambia: OCCUPIED, AVAILABLE, MAINTENANCE.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Errores propuestos: 422 para validación y 500 para persistencia.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El cliente no modifica camas ni salas; solo consulta.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Qué se defiende oralmente: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1. La regla de ocupación no se mueve al cliente.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2. Repository permite cambiar persistencia sin tocar el caso de uso.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Arial"/>
              </a:defRPr>
            </a:pPr>
            <a:r>
              <a:t>3. Microservicio queda como posibilidad futura, no decisión inmediata.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556248"/>
            <a:ext cx="11064240" cy="27432"/>
          </a:xfrm>
          <a:prstGeom prst="rect">
            <a:avLst/>
          </a:prstGeom>
          <a:solidFill>
            <a:srgbClr val="D7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77240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0B2A5B"/>
                </a:solidFill>
                <a:latin typeface="Arial"/>
              </a:rPr>
              <a:t>6. Respuesta preparada para la defensa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423160" cy="457200"/>
          </a:xfrm>
          <a:prstGeom prst="roundRect">
            <a:avLst/>
          </a:prstGeom>
          <a:solidFill>
            <a:srgbClr val="0B2A5B"/>
          </a:solidFill>
          <a:ln w="12700">
            <a:solidFill>
              <a:srgbClr val="0B2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Pregunta esperada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234440"/>
            <a:ext cx="7863840" cy="457200"/>
          </a:xfrm>
          <a:prstGeom prst="roundRect">
            <a:avLst/>
          </a:prstGeom>
          <a:solidFill>
            <a:srgbClr val="0B2A5B"/>
          </a:solidFill>
          <a:ln w="12700">
            <a:solidFill>
              <a:srgbClr val="0B2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Respuesta breve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2423160" cy="621792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1F2D3D"/>
                </a:solidFill>
                <a:latin typeface="Arial"/>
              </a:rPr>
              <a:t>¿Por qué API REST?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783080"/>
            <a:ext cx="7863840" cy="621792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Porque separa cliente y servidor sin cambiar las reglas del dominio.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24231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1F2D3D"/>
                </a:solidFill>
                <a:latin typeface="Arial"/>
              </a:rPr>
              <a:t>¿Por qué no microservicio?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514600"/>
            <a:ext cx="78638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Porque no hay una necesidad medible de despliegue o escala independiente.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2423160" cy="621792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1F2D3D"/>
                </a:solidFill>
                <a:latin typeface="Arial"/>
              </a:rPr>
              <a:t>¿Dónde vive la regla de ocupación?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3246120"/>
            <a:ext cx="7863840" cy="621792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En OccupancyCalculator, no en el cliente.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24231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1F2D3D"/>
                </a:solidFill>
                <a:latin typeface="Arial"/>
              </a:rPr>
              <a:t>¿Qué protege Repository?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3977639"/>
            <a:ext cx="78638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Evita que el caso de uso dependa directamente de PDO.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09159"/>
            <a:ext cx="2423160" cy="621792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1F2D3D"/>
                </a:solidFill>
                <a:latin typeface="Arial"/>
              </a:rPr>
              <a:t>¿Cómo respondo a un cambio?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4709159"/>
            <a:ext cx="7863840" cy="621792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0">
                <a:solidFill>
                  <a:srgbClr val="1F2D3D"/>
                </a:solidFill>
                <a:latin typeface="Arial"/>
              </a:rPr>
              <a:t>Primero ajusto contrato/API y pruebas; luego actualizo diagrama y matriz de decisión.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5715000"/>
            <a:ext cx="5943600" cy="411480"/>
          </a:xfrm>
          <a:prstGeom prst="roundRect">
            <a:avLst/>
          </a:prstGeom>
          <a:solidFill>
            <a:srgbClr val="18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Cierre: arquitectura trazable, modular y defendible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